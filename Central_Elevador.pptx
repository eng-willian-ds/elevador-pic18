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7315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889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11274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9A825"/>
                </a:solidFill>
                <a:latin typeface="Segoe UI"/>
              </a:rPr>
              <a:t>CENTRAL PARA ELEVADOR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1274552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 i="0">
                <a:solidFill>
                  <a:srgbClr val="8B949E"/>
                </a:solidFill>
                <a:latin typeface="Segoe UI"/>
              </a:rPr>
              <a:t>Controle de 6 andares com PIC18F4550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3200400"/>
            <a:ext cx="274320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3200400"/>
            <a:ext cx="2743200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3291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Willian Douglas dos Santos Clementino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" y="4297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58A6FF"/>
                </a:solidFill>
                <a:latin typeface="Segoe UI"/>
              </a:rPr>
              <a:t>RA 1869027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3200400"/>
            <a:ext cx="274320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291840" y="3200400"/>
            <a:ext cx="2743200" cy="64008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3291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Karoline Vitória de Freitas Yang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4297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BB87FF"/>
                </a:solidFill>
                <a:latin typeface="Segoe UI"/>
              </a:rPr>
              <a:t>RA 2578000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309360" y="3200400"/>
            <a:ext cx="274320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3200400"/>
            <a:ext cx="2743200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3291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Ana Caroline Soares Baptista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19088" y="4297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3FB950"/>
                </a:solidFill>
                <a:latin typeface="Segoe UI"/>
              </a:rPr>
              <a:t>RA 2486024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144000" y="3200400"/>
            <a:ext cx="2743200" cy="2011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3200400"/>
            <a:ext cx="2743200" cy="64008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53728" y="329184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Segoe UI"/>
              </a:rPr>
              <a:t>Erick Rodrigues Villalva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53728" y="429768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7B72"/>
                </a:solidFill>
                <a:latin typeface="Segoe UI"/>
              </a:rPr>
              <a:t>RA 2301105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630936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Segoe UI"/>
              </a:rPr>
              <a:t>ELE1012 — Microcontroladores  |  Prof. Miyadaira  |  UTFPR Medianeira  |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117"/>
                </a:solidFill>
                <a:latin typeface="Segoe UI"/>
              </a:rPr>
              <a:t>  VISÃO GERAL DO PROJETO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9A825"/>
                </a:solidFill>
                <a:latin typeface="Segoe UI"/>
              </a:rPr>
              <a:t>Requisitos do trabalho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80160"/>
            <a:ext cx="11274552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Segoe UI"/>
              </a:rPr>
              <a:t>✔  6 andares — botões de chamada por andar (RB0–RB5)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Segoe UI"/>
              </a:rPr>
              <a:t>✔  Display LCD 2×16 mostrando andar atual, temperatura e sentido (↑ ↓)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Segoe UI"/>
              </a:rPr>
              <a:t>✔  Temperatura simulada por potenciômetro — elevador para se temp &gt; 31 °C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Segoe UI"/>
              </a:rPr>
              <a:t>✔  Após 2,3 s inativo, retorna automaticamente ao 3º andar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Segoe UI"/>
              </a:rPr>
              <a:t>✔  Ao chegar no andar desejado, porta abre e permanece aberta por 1 s</a:t>
            </a:r>
          </a:p>
          <a:p>
            <a:pPr algn="l">
              <a:spcBef>
                <a:spcPts val="400"/>
              </a:spcBef>
            </a:pPr>
            <a:r>
              <a:rPr sz="1800">
                <a:solidFill>
                  <a:srgbClr val="FFFFFF"/>
                </a:solidFill>
                <a:latin typeface="Segoe UI"/>
              </a:rPr>
              <a:t>✔  Sinal PWM para o motor: aproximadamente 7 kHz com ciclo ativo de 38%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263640"/>
            <a:ext cx="11274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Segoe UI"/>
              </a:rPr>
              <a:t>Plataforma: PIC18F4550  |  IDE: MPLAB v8.92 + C18 v3.47 LITE  |  Simulação: PICSimLab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117"/>
                </a:solidFill>
                <a:latin typeface="Segoe UI"/>
              </a:rPr>
              <a:t>  DIVISÃO DO TRABALHO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FFFF"/>
                </a:solidFill>
                <a:latin typeface="Segoe UI"/>
              </a:rPr>
              <a:t>Quem apresenta o quê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34440"/>
            <a:ext cx="112745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743200" cy="4480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743200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35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Segoe UI"/>
              </a:rPr>
              <a:t>PARTE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6916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WILLIAN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201168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Hardware: PIC18F4550, config bits, pinagem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Cálculo e configuração do PWM 7 kHz / 38%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Funções: init_hardware(), init_pwm()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1417320"/>
            <a:ext cx="2743200" cy="4480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00400" y="1417320"/>
            <a:ext cx="2743200" cy="502920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91840" y="1435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Segoe UI"/>
              </a:rPr>
              <a:t>PARTE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16916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KAROLINE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201168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Timer0: ISR de 1 ms, cálculo de recarga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ADC: leitura do potenciômetro, mapeamento 0–50 °C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Função: init_timer0(), init_adc(), ler_adc()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17320"/>
            <a:ext cx="2743200" cy="4480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743200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0" y="1435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Segoe UI"/>
              </a:rPr>
              <a:t>PARTE 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0" y="16916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ANA CAROLINE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0" y="201168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LCD Miyadaira 4-bit, lcd_inicia(), lcd_posicao()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CGRAM: criação de ↑ e ↓ em carregar_chars()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Botões: ler_botoes() com debounce de 20 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1417320"/>
            <a:ext cx="2743200" cy="44805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52560" y="1417320"/>
            <a:ext cx="2743200" cy="50292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435608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D1117"/>
                </a:solidFill>
                <a:latin typeface="Segoe UI"/>
              </a:rPr>
              <a:t>PARTE 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0" y="1691640"/>
            <a:ext cx="2560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ERICK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44000" y="2011680"/>
            <a:ext cx="2560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Máquina de estados (IDLE→MOVENDO→PORTA→SUPER)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Funções motor_liga/desliga(), porta_abre/fecha()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›  Display: atualizar_lcd() com temperatura e seta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1 — WILLIAN DOUGLAS  —  RA 1869027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Segoe UI"/>
              </a:rPr>
              <a:t>Hardware — PIC18F4550 e Pinagem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828800" cy="34747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03120" y="1417320"/>
            <a:ext cx="1645920" cy="34747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749039" y="1417320"/>
            <a:ext cx="8046720" cy="347472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444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Pino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444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Porta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144475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Função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1764792"/>
            <a:ext cx="182880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03120" y="1764792"/>
            <a:ext cx="16459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749039" y="1764792"/>
            <a:ext cx="80467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18562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RB0–RB5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1856231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Segoe UI"/>
              </a:rPr>
              <a:t>PORTB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1856231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Botões dos andares 1–6  (pull-up interno, ativo em LOW)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267712"/>
            <a:ext cx="182880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03120" y="2267712"/>
            <a:ext cx="164592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3749039" y="2267712"/>
            <a:ext cx="804672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23591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RA0/AN0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23591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Segoe UI"/>
              </a:rPr>
              <a:t>PORTA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40480" y="235915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Potenciômetro — simula temperatura 0–50 °C  (ADC)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2770632"/>
            <a:ext cx="182880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3120" y="2770632"/>
            <a:ext cx="16459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749039" y="2770632"/>
            <a:ext cx="80467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28620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RC2/CCP1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28620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Segoe UI"/>
              </a:rPr>
              <a:t>PORTC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840480" y="28620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Saída PWM do motor  (~7 kHz, 38% duty cycle)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273552"/>
            <a:ext cx="182880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03120" y="3273552"/>
            <a:ext cx="164592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749039" y="3273552"/>
            <a:ext cx="804672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336499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RD0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336499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Segoe UI"/>
              </a:rPr>
              <a:t>PORTD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840480" y="336499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Motor IN1 — define direção de giro (via L293D)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3776472"/>
            <a:ext cx="182880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103120" y="3776472"/>
            <a:ext cx="16459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3749039" y="3776472"/>
            <a:ext cx="80467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65760" y="386791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RD1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194560" y="3867911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Segoe UI"/>
              </a:rPr>
              <a:t>PORTD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3867911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Motor IN2 — define direção de giro (via L293D)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4320" y="4279392"/>
            <a:ext cx="182880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103120" y="4279392"/>
            <a:ext cx="164592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3749039" y="4279392"/>
            <a:ext cx="804672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65760" y="4370831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RD2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4370831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Segoe UI"/>
              </a:rPr>
              <a:t>PORTD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840480" y="4370831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LED porta  (1 = aberta, 0 = fechada)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4320" y="4782312"/>
            <a:ext cx="182880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103120" y="4782312"/>
            <a:ext cx="16459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749039" y="4782312"/>
            <a:ext cx="8046720" cy="47548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65760" y="48737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RD4–RD7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194560" y="487375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Segoe UI"/>
              </a:rPr>
              <a:t>PORTD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840480" y="487375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LCD data bus 4 bits  (biblioteca Miyadaira)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4320" y="5285232"/>
            <a:ext cx="182880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103120" y="5285232"/>
            <a:ext cx="164592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749039" y="5285232"/>
            <a:ext cx="8046720" cy="47548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65760" y="53766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RE0–RE2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194560" y="537667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Segoe UI"/>
              </a:rPr>
              <a:t>PORTE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840480" y="5376672"/>
            <a:ext cx="7863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LCD: RW (RE0) · Enable (RE1) · RS (RE2)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1 — WILLIAN DOUGLAS  —  RA 1869027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Segoe UI"/>
              </a:rPr>
              <a:t>Config Bits + init_hardware()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5943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B949E"/>
                </a:solidFill>
                <a:latin typeface="Segoe UI"/>
              </a:rPr>
              <a:t>Configuração do oscilador e dos pinos I/O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783080"/>
            <a:ext cx="5852160" cy="150876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11479" y="1874519"/>
            <a:ext cx="5577840" cy="1325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#pragma config FOSC   = HS         // cristal externo 20 MHz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#pragma config CPUDIV = OSC1_PLL2  // CPU = Fosc (sem divisão PLL)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#pragma config WDT    = OFF        // watchdog desabilitado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#pragma config PBADEN = OFF        // PORTB digital no reset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#pragma config LVP    = OFF        // sem programação LVP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3337560"/>
            <a:ext cx="5852160" cy="32004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79" y="3429000"/>
            <a:ext cx="557784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void init_hardware(void)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ADCON1 = 0x0F;           // todos pinos digitais (AN0 config. no init_adc)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TRISB = 0xFF;            // RB0-RB5 = entradas (botões)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INTCON2bits.RBPU = 0;    // 0 = habilita pull-ups internos PORTB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TRISDbits.TRISD0 = 0;   // motor IN1 — saída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TRISDbits.TRISD1 = 0;   // motor IN2 — saída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TRISDbits.TRISD2 = 0;   // LED porta — saída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LATD = 0x00;             // tudo em zero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TRISCbits.TRISC2 = 0;   // RC2 = saída PWM (CCP1)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TRISAbits.TRISA0 = 1;   // RA0 = entrada analógica (AN0)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}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783080"/>
            <a:ext cx="5303520" cy="47548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783080"/>
            <a:ext cx="5303520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37960" y="1874519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58A6FF"/>
                </a:solidFill>
                <a:latin typeface="Segoe UI"/>
              </a:rPr>
              <a:t>Por que FOSC = HS?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228600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HS (High Speed) = cristal 20 MHz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CPUDIV = OSC1_PLL2 mantém CPU em Fosc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(PLL não é ativado — não precisamos de USB)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Por que ADCON1 = 0x0F?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PCFG=1111 desabilita TODOS os canais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analógicos. Assim PORTB e PORTD ficam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100% digitais no boot.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AN0 é reabilitado depois em init_adc().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RBPU = 0 → habilita resistores internos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de pull-up em PORTB, garantindo nível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→  HIGH quando o botão não está pressionado.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1 — WILLIAN DOUGLAS  —  RA 1869027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58A6FF"/>
                </a:solidFill>
                <a:latin typeface="Segoe UI"/>
              </a:rPr>
              <a:t>PWM — 7 kHz e 38% Duty Cycle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18288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103120" y="1417320"/>
            <a:ext cx="41148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577840" cy="65836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55448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Segoe UI"/>
              </a:rPr>
              <a:t>Fpwm 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155448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Fosc ÷ (4 × Prescaler × (PR2 + 1))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1554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= 20.000.000 ÷ (4 × 4 × 179)  =  6.983 Hz  ≈  7 kHz  ✓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2221992"/>
            <a:ext cx="18288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103120" y="2221992"/>
            <a:ext cx="41148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2221992"/>
            <a:ext cx="5577840" cy="65836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359152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Segoe UI"/>
              </a:rPr>
              <a:t>DC10bit =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2359152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int( 0,38 × 4 × (PR2 + 1) 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35915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= int( 0,38 × 716 )  =  272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3026664"/>
            <a:ext cx="18288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03120" y="3026664"/>
            <a:ext cx="41148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3026664"/>
            <a:ext cx="5577840" cy="65836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5760" y="3163824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Segoe UI"/>
              </a:rPr>
              <a:t>CCPR1L  =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94560" y="3163824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DC10bit &gt;&gt; 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16382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= 272 &gt;&gt; 2  =  68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831336"/>
            <a:ext cx="18288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103120" y="3831336"/>
            <a:ext cx="41148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217920" y="3831336"/>
            <a:ext cx="5577840" cy="65836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396849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Segoe UI"/>
              </a:rPr>
              <a:t>DC1B1:0 =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94560" y="3968496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DC10bit &amp; 0x03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09360" y="396849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= 272 &amp; 3  =  0  → CCP1CON = 0x0C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636008"/>
            <a:ext cx="18288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103120" y="4636008"/>
            <a:ext cx="41148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217920" y="4636008"/>
            <a:ext cx="5577840" cy="658368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5760" y="477316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9A825"/>
                </a:solidFill>
                <a:latin typeface="Segoe UI"/>
              </a:rPr>
              <a:t>Duty real=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194560" y="4773168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272 ÷ 716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77316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= 37,99%  ≈  38%  ✓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4320" y="5394960"/>
            <a:ext cx="11612880" cy="1463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79" y="5486400"/>
            <a:ext cx="11338559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void init_pwm(void)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OpenTimer2(TIMER_INT_OFF &amp; T2_PS_1_4 &amp; T2_POST_1_1); // psc 1:4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OpenPWM1(178);    // PR2 = 178 → Fpwm ≈ 7 kHz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SetDCPWM1(0);     // inicia desligado (duty = 0%)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// Ligar motor (38% duty):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SetDCPWM1(272);   // duty 10-bit = 272 → 37,99% ≈ 38%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// Desligar motor: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SetDCPWM1(0);     // duty = 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2 — KAROLINE VITÓRIA  —  RA 2578000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B87FF"/>
                </a:solidFill>
                <a:latin typeface="Segoe UI"/>
              </a:rPr>
              <a:t>Timer0 — Base de Tempo de 1 ms (ISR)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2011680" cy="658368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0" y="1417320"/>
            <a:ext cx="36576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Fosc = 20 MHz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377439" y="1554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T_maq = 4 / 20 MHz = 200 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2011680" cy="658368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286000" y="2194560"/>
            <a:ext cx="36576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Prescaler 1:8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77439" y="2331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T_tick = 8 × 200 ns = 1,6 µs por tick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17920" y="1417320"/>
            <a:ext cx="2011680" cy="658368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29600" y="1417320"/>
            <a:ext cx="36576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59" y="155448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Para 1 ms: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155448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1.000 µs ÷ 1,6 µs = 625 ticks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217920" y="2194560"/>
            <a:ext cx="2011680" cy="658368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29600" y="2194560"/>
            <a:ext cx="3657600" cy="658368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59" y="233172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Recarga Timer0: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33172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  <a:latin typeface="Segoe UI"/>
              </a:rPr>
              <a:t>65.536 − 625  =  64.911  =  0xFD8F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017520"/>
            <a:ext cx="7132320" cy="2834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108960"/>
            <a:ext cx="6858000" cy="2651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// Vetor de interrupção alta prioridade (endereço 0x0008)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#pragma code int_alta = 0x0008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void int_alta(void) { _asm GOTO ISR_TIMER0 _endasm 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#pragma code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#pragma interrupt ISR_TIMER0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void ISR_TIMER0(void)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ms_tick++;          // incrementa o contador global de ms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TMR0H = 0xFD;       // recarga para próxima interrupção em 1 ms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TMR0L = 0x8F;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INTCONbits.TMR0IF = 0;  // limpa flag de overflow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}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589520" y="3017520"/>
            <a:ext cx="4297680" cy="28346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7589520" y="3017520"/>
            <a:ext cx="4297680" cy="64008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26679" y="3108960"/>
            <a:ext cx="4114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87FF"/>
                </a:solidFill>
                <a:latin typeface="Segoe UI"/>
              </a:rPr>
              <a:t>Como funciona na prática?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26679" y="3474720"/>
            <a:ext cx="4114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Timer0 gera overflow a cada 625 ticks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= exatamente 1 ms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ms_tick é global e volátil (volatile)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→ garante leitura atualizada pelo main()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Medir 2300 ms de inatividade: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(ms_tick − t_inativo) &gt;= 2300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Não bloqueia o loop principal — o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main() continua executando e a ISR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interrompe brevemente a cada 1 ms.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897880"/>
            <a:ext cx="7132320" cy="8686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11479" y="5989320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// init_timer0():  16-bit | Fosc/4 | prescaler 1:8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T0CON = 0b10000010;  // TMR0ON | 16-bit | int clk | psc 1:8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TMR0H = 0xFD;  TMR0L = 0x8F;  // 65536 - 625 = 64.911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T0CONbits.TMR0ON = 1;  // habilita Timer0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2 — KAROLINE VITÓRIA  —  RA 2578000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BB87FF"/>
                </a:solidFill>
                <a:latin typeface="Segoe UI"/>
              </a:rPr>
              <a:t>ADC — Potenciômetro Simulando Temperatura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7040880" cy="4526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6766560" cy="4343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void init_adc(void)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ADCON1bits.VCFG1 = 0; ADCON1bits.VCFG0 = 0; // Vref = VDD/VSS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// PCFG = 1110: somente AN0 analógico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ADCON1bits.PCFG3=1; ADCON1bits.PCFG2=1;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ADCON1bits.PCFG1=1; ADCON1bits.PCFG0=0;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// Clock Fosc/16 → TAD = 0,8 µs (mínimo para 20 MHz)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ADCON2bits.ADCS2=1; ADCON2bits.ADCS1=0; ADCON2bits.ADCS0=1;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// Aquisição automática: 4 TAD = 3,2 µs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ADCON2bits.ACQT2=0; ADCON2bits.ACQT1=1; ADCON2bits.ACQT0=0;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ADCON2bits.ADFM = 1;   // resultado à direita (10 bits em ADRESH:ADRESL)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ADCON0 = 0x01;         // AN0 selecionado + ADON = 1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unsigned int ler_adc(void)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ADCON0bits.GO = 1;         // inicia conversão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while (!PIR1bits.ADIF);    // aguarda fim (~12 µs)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PIR1bits.ADIF = 0;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return ((unsigned int)ADRESH &lt;&lt; 8) | ADRESL;  // 0–1023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498079" y="1417320"/>
            <a:ext cx="4389120" cy="45262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498079" y="1417320"/>
            <a:ext cx="4389120" cy="64008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635240" y="1508760"/>
            <a:ext cx="42062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B87FF"/>
                </a:solidFill>
                <a:latin typeface="Segoe UI"/>
              </a:rPr>
              <a:t>Mapeamento de temperatura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635240" y="1920240"/>
            <a:ext cx="42062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Potenciômetro em RA0 (AN0) gera 0–5V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ADC 10 bits: 0 V = 0 | 5 V = 1023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Mapeamento → 0 a 50 °C: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temp = adc × 50 / 1023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Com 1 decimal (sem float):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temp_10 = adc × 500 / 1023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→ ex: adc=640 → 312 → 31.2 °C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Limiar de parada: 31 °C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→ adc ≈ 634 (62% do potenc.)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Não usamos float — operações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com unsigned long int evitam</a:t>
            </a:r>
          </a:p>
          <a:p>
            <a:pPr algn="l">
              <a:spcBef>
                <a:spcPts val="400"/>
              </a:spcBef>
            </a:pPr>
            <a:r>
              <a:rPr sz="1200">
                <a:solidFill>
                  <a:srgbClr val="FFFFFF"/>
                </a:solidFill>
                <a:latin typeface="Segoe UI"/>
              </a:rPr>
              <a:t>→  lentidão e erros no C18 LITE.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6035040"/>
            <a:ext cx="11612880" cy="68580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6108192"/>
            <a:ext cx="113385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3FB950"/>
                </a:solidFill>
                <a:latin typeface="Segoe UI"/>
              </a:rPr>
              <a:t>temp = (unsigned long)adc_raw × 50UL / 1023UL     |     temp_10 = (unsigned long)adc_raw × 500UL / 1023UL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3 — ANA CAROLINE  —  RA 2486024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FB950"/>
                </a:solidFill>
                <a:latin typeface="Segoe UI"/>
              </a:rPr>
              <a:t>LCD 2×16 — Biblioteca Miyadaira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029200" cy="3840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303520" y="1417320"/>
            <a:ext cx="6492240" cy="38404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44475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Função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94960" y="1444752"/>
            <a:ext cx="6400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D1117"/>
                </a:solidFill>
                <a:latin typeface="Segoe UI"/>
              </a:rPr>
              <a:t>Descrição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801368"/>
            <a:ext cx="502920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303520" y="1801368"/>
            <a:ext cx="649224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1892807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  <a:latin typeface="Segoe UI"/>
              </a:rPr>
              <a:t>lcd_inicia(c1, c2, c3)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94960" y="1892807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Inicializa o display (modo, cursor, shift)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276856"/>
            <a:ext cx="5029200" cy="45720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303520" y="2276856"/>
            <a:ext cx="6492240" cy="45720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2368296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  <a:latin typeface="Segoe UI"/>
              </a:rPr>
              <a:t>lcd_posicao(linha, col)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368296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Posiciona cursor — 1-based (linha 1 ou 2)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752344"/>
            <a:ext cx="502920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303520" y="2752344"/>
            <a:ext cx="649224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2843784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  <a:latin typeface="Segoe UI"/>
              </a:rPr>
              <a:t>lcd_escreve_dado(byte)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94960" y="2843784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Escreve 1 caractere/símbolo no cursor atual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27832"/>
            <a:ext cx="5029200" cy="45720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303520" y="3227832"/>
            <a:ext cx="6492240" cy="45720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3319272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  <a:latin typeface="Segoe UI"/>
              </a:rPr>
              <a:t>imprime_string_lcd(str)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394960" y="3319272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Envia string da memória de programa para o LCD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703320"/>
            <a:ext cx="502920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303520" y="3703320"/>
            <a:ext cx="6492240" cy="457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65760" y="3794759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  <a:latin typeface="Segoe UI"/>
              </a:rPr>
              <a:t>imprime_buffer_lcd(buf,n)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94960" y="379475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Envia n bytes de um buffer RAM para o LCD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178808"/>
            <a:ext cx="5029200" cy="45720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303520" y="4178808"/>
            <a:ext cx="6492240" cy="457200"/>
          </a:xfrm>
          <a:prstGeom prst="rect">
            <a:avLst/>
          </a:prstGeom>
          <a:solidFill>
            <a:srgbClr val="1E25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65760" y="4270248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3FB950"/>
                </a:solidFill>
                <a:latin typeface="Segoe UI"/>
              </a:rPr>
              <a:t>lcd_envia_controle(RS,RW,d,t)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94960" y="4270248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Envia comando bruto (RS=0) ou dado (RS=1)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4663440"/>
            <a:ext cx="11612880" cy="21031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1479" y="4754879"/>
            <a:ext cx="11338559" cy="192023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// Inicialização usada no projeto: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lcd_inicia(0x28, 0x0F, 0x06);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//         0x28 = 4 bits, 2 linhas, matriz 8x5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//         0x0F = liga display + cursor piscante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//         0x06 = cursor desloca para direita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// Escrever na linha 1 coluna 1: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lcd_posicao(1, 1);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imprime_string_lcd("Andar: ");</a:t>
            </a:r>
          </a:p>
          <a:p>
            <a:pPr algn="l"/>
            <a:r>
              <a:rPr sz="1200">
                <a:solidFill>
                  <a:srgbClr val="3FB950"/>
                </a:solidFill>
                <a:latin typeface="Consolas"/>
              </a:rPr>
              <a:t>lcd_escreve_dado('3');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3 — ANA CAROLINE  —  RA 2486024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FB950"/>
                </a:solidFill>
                <a:latin typeface="Segoe UI"/>
              </a:rPr>
              <a:t>CGRAM — Criando os Símbolos ↑ e ↓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↑  char 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81051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76072" y="181051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877824" y="1810512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79576" y="181051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481328" y="181051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828800" y="18105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211226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76072" y="2112264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77824" y="2112264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179576" y="2112264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211226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828800" y="21122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414016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" y="2414016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77824" y="2414016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179576" y="2414016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481328" y="2414016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0" y="24140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0x1F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15768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76072" y="2715768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77824" y="2715768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179576" y="2715768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1481328" y="2715768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0" y="2715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3017520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" y="3017520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77824" y="301752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179576" y="3017520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1481328" y="3017520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828800" y="3017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0x04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4320" y="331927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76072" y="331927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877824" y="3319272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1179576" y="331927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1481328" y="331927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828800" y="3319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0x04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62102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76072" y="362102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877824" y="3621024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1179576" y="362102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481328" y="362102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828800" y="36210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0x04</a:t>
            </a:r>
          </a:p>
        </p:txBody>
      </p:sp>
      <p:sp>
        <p:nvSpPr>
          <p:cNvPr id="49" name="Rectangle 48"/>
          <p:cNvSpPr/>
          <p:nvPr/>
        </p:nvSpPr>
        <p:spPr>
          <a:xfrm>
            <a:off x="274320" y="392277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76072" y="392277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77824" y="392277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1179576" y="392277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1481328" y="392277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28800" y="39227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0x00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200400" y="1371600"/>
            <a:ext cx="25603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↓  char 1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0" y="181051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502152" y="181051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803904" y="1810512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105656" y="181051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407408" y="181051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4754880" y="181051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0x04</a:t>
            </a:r>
          </a:p>
        </p:txBody>
      </p:sp>
      <p:sp>
        <p:nvSpPr>
          <p:cNvPr id="62" name="Rectangle 61"/>
          <p:cNvSpPr/>
          <p:nvPr/>
        </p:nvSpPr>
        <p:spPr>
          <a:xfrm>
            <a:off x="3200400" y="211226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502152" y="211226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803904" y="2112264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105656" y="211226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407408" y="211226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4754880" y="21122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0x04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200400" y="241401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3502152" y="241401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3803904" y="2414016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105656" y="241401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4407408" y="241401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4754880" y="241401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0x04</a:t>
            </a:r>
          </a:p>
        </p:txBody>
      </p:sp>
      <p:sp>
        <p:nvSpPr>
          <p:cNvPr id="74" name="Rectangle 73"/>
          <p:cNvSpPr/>
          <p:nvPr/>
        </p:nvSpPr>
        <p:spPr>
          <a:xfrm>
            <a:off x="3200400" y="2715768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Rectangle 74"/>
          <p:cNvSpPr/>
          <p:nvPr/>
        </p:nvSpPr>
        <p:spPr>
          <a:xfrm>
            <a:off x="3502152" y="2715768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Rectangle 75"/>
          <p:cNvSpPr/>
          <p:nvPr/>
        </p:nvSpPr>
        <p:spPr>
          <a:xfrm>
            <a:off x="3803904" y="2715768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Rectangle 76"/>
          <p:cNvSpPr/>
          <p:nvPr/>
        </p:nvSpPr>
        <p:spPr>
          <a:xfrm>
            <a:off x="4105656" y="2715768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Rectangle 77"/>
          <p:cNvSpPr/>
          <p:nvPr/>
        </p:nvSpPr>
        <p:spPr>
          <a:xfrm>
            <a:off x="4407408" y="2715768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4754880" y="271576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0x04</a:t>
            </a:r>
          </a:p>
        </p:txBody>
      </p:sp>
      <p:sp>
        <p:nvSpPr>
          <p:cNvPr id="80" name="Rectangle 79"/>
          <p:cNvSpPr/>
          <p:nvPr/>
        </p:nvSpPr>
        <p:spPr>
          <a:xfrm>
            <a:off x="3200400" y="301752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Rectangle 80"/>
          <p:cNvSpPr/>
          <p:nvPr/>
        </p:nvSpPr>
        <p:spPr>
          <a:xfrm>
            <a:off x="3502152" y="301752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Rectangle 81"/>
          <p:cNvSpPr/>
          <p:nvPr/>
        </p:nvSpPr>
        <p:spPr>
          <a:xfrm>
            <a:off x="3803904" y="301752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Rectangle 82"/>
          <p:cNvSpPr/>
          <p:nvPr/>
        </p:nvSpPr>
        <p:spPr>
          <a:xfrm>
            <a:off x="4105656" y="301752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Rectangle 83"/>
          <p:cNvSpPr/>
          <p:nvPr/>
        </p:nvSpPr>
        <p:spPr>
          <a:xfrm>
            <a:off x="4407408" y="3017520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4754880" y="3017520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0x1F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200400" y="331927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3502152" y="3319272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3803904" y="3319272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4105656" y="3319272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ectangle 89"/>
          <p:cNvSpPr/>
          <p:nvPr/>
        </p:nvSpPr>
        <p:spPr>
          <a:xfrm>
            <a:off x="4407408" y="3319272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754880" y="33192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0x0E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200400" y="362102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3502152" y="362102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ectangle 93"/>
          <p:cNvSpPr/>
          <p:nvPr/>
        </p:nvSpPr>
        <p:spPr>
          <a:xfrm>
            <a:off x="3803904" y="3621024"/>
            <a:ext cx="274320" cy="2743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4105656" y="362102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4407408" y="3621024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4754880" y="362102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0x04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200400" y="392277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ectangle 98"/>
          <p:cNvSpPr/>
          <p:nvPr/>
        </p:nvSpPr>
        <p:spPr>
          <a:xfrm>
            <a:off x="3502152" y="392277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ectangle 99"/>
          <p:cNvSpPr/>
          <p:nvPr/>
        </p:nvSpPr>
        <p:spPr>
          <a:xfrm>
            <a:off x="3803904" y="392277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4105656" y="392277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Rectangle 101"/>
          <p:cNvSpPr/>
          <p:nvPr/>
        </p:nvSpPr>
        <p:spPr>
          <a:xfrm>
            <a:off x="4407408" y="3922776"/>
            <a:ext cx="274320" cy="274320"/>
          </a:xfrm>
          <a:prstGeom prst="rect">
            <a:avLst/>
          </a:prstGeom>
          <a:solidFill>
            <a:srgbClr val="3037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4754880" y="392277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  0x00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274320" y="425196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B949E"/>
                </a:solidFill>
                <a:latin typeface="Segoe UI"/>
              </a:rPr>
              <a:t>O HD44780 suporta até 8 chars customizados na CGRAM (endereços 0x40–0x7F, 8 bytes cada).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274320" y="4645152"/>
            <a:ext cx="11612880" cy="21488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411479" y="4736592"/>
            <a:ext cx="11338559" cy="1965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const unsigned char BITMAP_CIMA[8]  = {0x04,0x0E,0x1F,0x04,0x04,0x04,0x04,0x00};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const unsigned char BITMAP_BAIXO[8] = {0x04,0x04,0x04,0x04,0x1F,0x0E,0x04,0x00};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void carregar_chars(void) {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unsigned char i;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lcd_envia_controle(0, 0, 0x40, 45); // aponta CGRAM para char 0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for (i = 0; i &lt; 8; i++) lcd_escreve_dado(BITMAP_CIMA[i]);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lcd_envia_controle(0, 0, 0x48, 45); // aponta CGRAM para char 1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for (i = 0; i &lt; 8; i++) lcd_escreve_dado(BITMAP_BAIXO[i]);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lcd_posicao(1, 1);  // volta cursor para DDRAM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// Exibir: lcd_escreve_dado(0x00) = seta cima | lcd_escreve_dado(0x01) = seta baixo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3 — ANA CAROLINE  —  RA 2486024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FB950"/>
                </a:solidFill>
                <a:latin typeface="Segoe UI"/>
              </a:rPr>
              <a:t>Botões — ler_botoes() com Debounce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7406640" cy="4892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7132320" cy="47091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static unsigned long t_deb[7] = {0};  // timestamp do último debounce por andar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void ler_botoes(void)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unsigned char i, portb;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portb = PORTB;   // lê o porto inteiro de uma vez (snapshot)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for (i = 1; i &lt;= TOTAL_ANDARES; i++)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// bit (i-1) do PORTB → botão do andar i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// pull-up ativo: botão pressionado = LOW (0)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if (!(portb &amp; (1 &lt;&lt; (i - 1))))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    // debounce: só aceita se passaram ≥ 20 ms desde o último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    if ((ms_tick - t_deb[i]) &gt;= 20)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        t_deb[i] = ms_tick;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        if (i != (unsigned char)andar_atual)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            fila[i]   = 1;       // adiciona à fila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            t_inativo = ms_tick; // reinicia contador de inatividade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        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    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863840" y="1417320"/>
            <a:ext cx="4023360" cy="4892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863840" y="1417320"/>
            <a:ext cx="4023360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01000" y="1508760"/>
            <a:ext cx="3840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3FB950"/>
                </a:solidFill>
                <a:latin typeface="Segoe UI"/>
              </a:rPr>
              <a:t>Por que debounce?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01000" y="1920240"/>
            <a:ext cx="384048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Botões mecânicos 'ricocheteiam'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por 5–20 ms ao serem pressionados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→ geram múltiplos pulsos rápidos.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Sem debounce: um toque conta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como vários pressionamentos.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Solução: registra o tempo do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último toque (t_deb[i]).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Só aceita novo toque se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(ms_tick - t_deb[i]) ≥ 20 ms.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t_deb[] é static → persiste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entre chamadas da função.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Pull-up interno (RBPU=0):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lógica invertida — LOW = on.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!(portb &amp; (1&lt;&lt;(i-1))) detecta</a:t>
            </a:r>
          </a:p>
          <a:p>
            <a:pPr algn="l">
              <a:spcBef>
                <a:spcPts val="400"/>
              </a:spcBef>
            </a:pPr>
            <a:r>
              <a:rPr sz="1100">
                <a:solidFill>
                  <a:srgbClr val="FFFFFF"/>
                </a:solidFill>
                <a:latin typeface="Segoe UI"/>
              </a:rPr>
              <a:t>→  o bit em zero (botão ativo).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4 — ERICK RODRIGUES  —  RA 2301105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7B72"/>
                </a:solidFill>
                <a:latin typeface="Segoe UI"/>
              </a:rPr>
              <a:t>Máquina de Estados — Visão Geral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2011680"/>
            <a:ext cx="25603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5760" y="2011680"/>
            <a:ext cx="2560320" cy="64008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7B72"/>
                </a:solidFill>
                <a:latin typeface="Segoe UI"/>
              </a:rPr>
              <a:t>IDLE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606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Motor parado
Aguarda botão
Contagem 2,3 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2011680"/>
            <a:ext cx="25603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657600" y="2011680"/>
            <a:ext cx="2560320" cy="64008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49039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58A6FF"/>
                </a:solidFill>
                <a:latin typeface="Segoe UI"/>
              </a:rPr>
              <a:t>MOVENDO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606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Motor ligado
Avança 1 andar
a cada 3 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49440" y="2011680"/>
            <a:ext cx="25603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949440" y="2011680"/>
            <a:ext cx="2560320" cy="64008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79" y="214884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BB87FF"/>
                </a:solidFill>
                <a:latin typeface="Segoe UI"/>
              </a:rPr>
              <a:t>RETORNANDO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260604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Igual MOVENDO
para o andar 3
(automático)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4389120"/>
            <a:ext cx="25603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0" y="4389120"/>
            <a:ext cx="2560320" cy="64008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749039" y="4526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FB950"/>
                </a:solidFill>
                <a:latin typeface="Segoe UI"/>
              </a:rPr>
              <a:t>PORTA_ABERTA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49039" y="4983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Motor parado
Porta aberta
Aguarda 1 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389120"/>
            <a:ext cx="2560320" cy="16459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365760" y="4389120"/>
            <a:ext cx="2560320" cy="640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4526280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Segoe UI"/>
              </a:rPr>
              <a:t>SUPERAQUECIDO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4983480"/>
            <a:ext cx="23774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Motor parado
Temp &gt; 31 °C
Aguarda esfriar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6080" y="2743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→ botão
   pressionado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27432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→ 2,3 s
   inativo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937760" y="41148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↓ chegou
   no andar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60320" y="5303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← temp
   &gt; 31°C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548640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↑ 1 s
   passado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926080" y="5303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9A825"/>
                </a:solidFill>
                <a:latin typeface="Segoe UI"/>
              </a:rPr>
              <a:t>↑ temp ≤ 31°C
   retoma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" y="6309360"/>
            <a:ext cx="1161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8B949E"/>
                </a:solidFill>
                <a:latin typeface="Segoe UI"/>
              </a:rPr>
              <a:t>A cada iteração do loop principal: ler_adc() → ler_botoes() → maquina_estados() → atualizar_lcd()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4 — ERICK RODRIGUES  —  RA 2301105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B72"/>
                </a:solidFill>
                <a:latin typeface="Segoe UI"/>
              </a:rPr>
              <a:t>Estados IDLE e MOVENDO/RETORNANDO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5760720" cy="4892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5486400" cy="47091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case IDLE: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motor_desliga();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if (temp &gt; TEMP_MAX) { estado = SUPERAQUECIDO; break; 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andar_destino = proximo_fila();  // algoritmo SCAN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if (andar_destino != 0) {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definir_direcao();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motor_liga();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t_viagem = t_inativo = ms_tick;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estado = MOVENDO;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break;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// 2,3 s sem chamada e não está no 3º → retorna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if ((ms_tick - t_inativo) &gt;= 2300UL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&amp;&amp; andar_atual != ANDAR_HOME) {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andar_destino = ANDAR_HOME;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definir_direcao();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motor_liga();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t_viagem = t_inativo = ms_tick;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estado = RETORNANDO;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break;</a:t>
            </a:r>
          </a:p>
        </p:txBody>
      </p:sp>
      <p:sp>
        <p:nvSpPr>
          <p:cNvPr id="8" name="Rectangle 7"/>
          <p:cNvSpPr/>
          <p:nvPr/>
        </p:nvSpPr>
        <p:spPr>
          <a:xfrm>
            <a:off x="6217920" y="1417320"/>
            <a:ext cx="5669280" cy="489204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55080" y="1508760"/>
            <a:ext cx="5394960" cy="470915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case MOVENDO: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case RETORNANDO: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if (temp &gt; TEMP_MAX) {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motor_desliga();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estado = SUPERAQUECIDO;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break;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// avança 1 andar a cada TEMPO_POR_ANDAR ms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if ((ms_tick - t_viagem) &gt;= TEMPO_POR_ANDAR) {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t_viagem = ms_tick;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if (direcao == SUBINDO)  andar_atual++;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if (direcao == DESCENDO) andar_atual--;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if (andar_atual == andar_destino) {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fila[andar_destino] = 0; // remove da fila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motor_desliga();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porta_abre();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t_porta = ms_tick;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estado = PORTA_ABERTA;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break;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40080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Segoe UI"/>
              </a:rPr>
              <a:t>proximo_fila(): algoritmo SCAN — prioriza andares na direção atual; só inverte quando não há mais chamadas nessa direção.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4 — ERICK RODRIGUES  —  RA 2301105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B72"/>
                </a:solidFill>
                <a:latin typeface="Segoe UI"/>
              </a:rPr>
              <a:t>Estados PORTA_ABERTA e SUPERAQUECIDO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6035040" cy="5212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576072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case PORTA_ABERTA: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// porta permanece aberta por 1 s (1000 ms)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if ((ms_tick - t_porta) &gt;= TEMPO_PORTA) {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porta_fecha();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t_inativo = ms_tick; // reinicia inatividade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estado = IDLE;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break;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case SUPERAQUECIDO: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motor_desliga();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direcao = PARADO;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if (temp &lt;= TEMP_MAX) {  // temperatura normalizou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t_inativo = ms_tick;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if (andar_destino != 0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    &amp;&amp; andar_destino != andar_atual) {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definir_direcao();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motor_liga();  // retoma viagem pendente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t_viagem = ms_tick;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estado = MOVENDO;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} else {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estado = IDLE;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break;</a:t>
            </a:r>
          </a:p>
        </p:txBody>
      </p:sp>
      <p:sp>
        <p:nvSpPr>
          <p:cNvPr id="8" name="Rectangle 7"/>
          <p:cNvSpPr/>
          <p:nvPr/>
        </p:nvSpPr>
        <p:spPr>
          <a:xfrm>
            <a:off x="6492240" y="1417320"/>
            <a:ext cx="5394960" cy="27432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29400" y="1508760"/>
            <a:ext cx="5120640" cy="2560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void motor_liga(void)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if (direcao == SUBINDO)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{ MOTOR_IN1=1; MOTOR_IN2=0; 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else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    { MOTOR_IN1=0; MOTOR_IN2=1; 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SetDCPWM1(PWM_DUTY); // 38% — ≈7 kHz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void motor_desliga(void) {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SetDCPWM1(0);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    MOTOR_IN1=0; MOTOR_IN2=0;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void porta_abre(void)  { PORTA_LED=1; }</a:t>
            </a:r>
          </a:p>
          <a:p>
            <a:pPr algn="l"/>
            <a:r>
              <a:rPr sz="1100">
                <a:solidFill>
                  <a:srgbClr val="3FB950"/>
                </a:solidFill>
                <a:latin typeface="Consolas"/>
              </a:rPr>
              <a:t>void porta_fecha(void) { PORTA_LED=0;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6492240" y="4297680"/>
            <a:ext cx="5394960" cy="228600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92240" y="4297680"/>
            <a:ext cx="5394960" cy="64008"/>
          </a:xfrm>
          <a:prstGeom prst="rect">
            <a:avLst/>
          </a:prstGeom>
          <a:solidFill>
            <a:srgbClr val="FF5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4389120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5C5C"/>
                </a:solidFill>
                <a:latin typeface="Segoe UI"/>
              </a:rPr>
              <a:t>Comportamento no SUPERAQUECIDO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29400" y="484632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!  Motor para imediatamente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!  Direção é resetada para PARADO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!  LCD mostra 'STOP' em vez de ↑/↓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!  Quando temp cai ≤ 31 °C: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!    → se tinha destino: retoma viagem</a:t>
            </a:r>
          </a:p>
          <a:p>
            <a:pPr algn="l">
              <a:spcBef>
                <a:spcPts val="400"/>
              </a:spcBef>
            </a:pPr>
            <a:r>
              <a:rPr sz="1300">
                <a:solidFill>
                  <a:srgbClr val="FFFFFF"/>
                </a:solidFill>
                <a:latin typeface="Segoe UI"/>
              </a:rPr>
              <a:t>!    → senão: volta ao IDLE normal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18288"/>
            <a:ext cx="1188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D1117"/>
                </a:solidFill>
                <a:latin typeface="Segoe UI"/>
              </a:rPr>
              <a:t>  PARTE 4 — ERICK RODRIGUES  —  RA 2301105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FF7B72"/>
                </a:solidFill>
                <a:latin typeface="Segoe UI"/>
              </a:rPr>
              <a:t>atualizar_lcd() — Display do Elevador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98448"/>
            <a:ext cx="11274552" cy="36576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1417320"/>
            <a:ext cx="7315200" cy="521208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79" y="1508760"/>
            <a:ext cx="704088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void atualizar_lcd(void) {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unsigned char buf[18];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// temperatura em décimos de grau (sem float)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unsigned int temp_10 =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(unsigned int)((unsigned long)adc_raw * 500UL / 1023UL);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// ── Linha 1: "Andar: X  [dir]  " ─────────────────────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lcd_posicao(1, 1);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sprintf(buf, "Andar: %d  ", andar_atual);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imprime_buffer_lcd(buf, 10);   // 10 chars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if (estado == SUPERAQUECIDO)       imprime_string_lcd("STOP  ");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else if (direcao == SUBINDO)  { lcd_escreve_dado(0x00); // ↑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                        imprime_string_lcd("     "); 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else if (direcao == DESCENDO) { lcd_escreve_dado(0x01); // ↓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                                imprime_string_lcd("     "); }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else                              imprime_string_lcd("      ");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/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// ── Linha 2: "Tmp: XX.X C     " ──────────────────────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lcd_posicao(2, 1);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sprintf(buf, "Tmp: %u.%uC       ", temp_10/10, temp_10%10);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    imprime_buffer_lcd(buf, 16);</a:t>
            </a:r>
          </a:p>
          <a:p>
            <a:pPr algn="l"/>
            <a:r>
              <a:rPr sz="1000">
                <a:solidFill>
                  <a:srgbClr val="3FB950"/>
                </a:solidFill>
                <a:latin typeface="Consolas"/>
              </a:rPr>
              <a:t>}</a:t>
            </a:r>
          </a:p>
        </p:txBody>
      </p:sp>
      <p:sp>
        <p:nvSpPr>
          <p:cNvPr id="8" name="Rectangle 7"/>
          <p:cNvSpPr/>
          <p:nvPr/>
        </p:nvSpPr>
        <p:spPr>
          <a:xfrm>
            <a:off x="7818120" y="1554480"/>
            <a:ext cx="4023360" cy="320040"/>
          </a:xfrm>
          <a:prstGeom prst="rect">
            <a:avLst/>
          </a:prstGeom>
          <a:solidFill>
            <a:srgbClr val="2E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79" y="157276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LCD — Linha 1 (normal)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874519"/>
            <a:ext cx="4023360" cy="59436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93852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Andar: 3  ↑     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2606040"/>
            <a:ext cx="4023360" cy="320040"/>
          </a:xfrm>
          <a:prstGeom prst="rect">
            <a:avLst/>
          </a:prstGeom>
          <a:solidFill>
            <a:srgbClr val="2E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55279" y="262432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LCD — Linha 2 (temperatura)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18120" y="2926080"/>
            <a:ext cx="4023360" cy="594360"/>
          </a:xfrm>
          <a:prstGeom prst="rect">
            <a:avLst/>
          </a:prstGeom>
          <a:solidFill>
            <a:srgbClr val="1A3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909560" y="299008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FB950"/>
                </a:solidFill>
                <a:latin typeface="Segoe UI"/>
              </a:rPr>
              <a:t>Tmp: 28.5C      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818120" y="3703320"/>
            <a:ext cx="4023360" cy="320040"/>
          </a:xfrm>
          <a:prstGeom prst="rect">
            <a:avLst/>
          </a:prstGeom>
          <a:solidFill>
            <a:srgbClr val="2E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372160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LCD — Linha 1 (superaquecido)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18120" y="4023360"/>
            <a:ext cx="4023360" cy="5943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09560" y="408736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C5C"/>
                </a:solidFill>
                <a:latin typeface="Segoe UI"/>
              </a:rPr>
              <a:t>Andar: 2  STOP  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818120" y="4800600"/>
            <a:ext cx="4023360" cy="320040"/>
          </a:xfrm>
          <a:prstGeom prst="rect">
            <a:avLst/>
          </a:prstGeom>
          <a:solidFill>
            <a:srgbClr val="2E35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955279" y="4818888"/>
            <a:ext cx="38404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B949E"/>
                </a:solidFill>
                <a:latin typeface="Segoe UI"/>
              </a:rPr>
              <a:t>LCD — Linha 2 (superaquecido)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818120" y="5120640"/>
            <a:ext cx="4023360" cy="594360"/>
          </a:xfrm>
          <a:prstGeom prst="rect">
            <a:avLst/>
          </a:prstGeom>
          <a:solidFill>
            <a:srgbClr val="3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909560" y="5184648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5C5C"/>
                </a:solidFill>
                <a:latin typeface="Segoe UI"/>
              </a:rPr>
              <a:t>Tmp: 34.7C     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46520"/>
            <a:ext cx="116128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B949E"/>
                </a:solidFill>
                <a:latin typeface="Segoe UI"/>
              </a:rPr>
              <a:t>temp_10/10 = parte inteira  |  temp_10%10 = 1 decimal  →  sem float, evitando lentidão no C18 LITE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02920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" y="45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D1117"/>
                </a:solidFill>
                <a:latin typeface="Segoe UI"/>
              </a:rPr>
              <a:t>  CONCLUSÃO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8580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Segoe UI"/>
              </a:rPr>
              <a:t>O que foi implementado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11274552" cy="36576"/>
          </a:xfrm>
          <a:prstGeom prst="rect">
            <a:avLst/>
          </a:prstGeom>
          <a:solidFill>
            <a:srgbClr val="F9A8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1247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  <a:latin typeface="Segoe UI"/>
              </a:rPr>
              <a:t>✔  Timer0 (16 bits, ISR) gera base de tempo de 1 ms não-bloqueante para todas as contagens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  <a:latin typeface="Segoe UI"/>
              </a:rPr>
              <a:t>✔  PWM no CCP1/RC2: 6.983 Hz ≈ 7 kHz com 38% duty cycle calculado analiticamente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  <a:latin typeface="Segoe UI"/>
              </a:rPr>
              <a:t>✔  ADC em AN0 com Fosc/16 lê o potenciômetro e mapeia 0–50 °C sem usar float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  <a:latin typeface="Segoe UI"/>
              </a:rPr>
              <a:t>✔  LCD 4 bits (Miyadaira) exibe andar, temperatura e símbolos ↑↓ criados na CGRAM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  <a:latin typeface="Segoe UI"/>
              </a:rPr>
              <a:t>✔  Máquina de estados SCAN com 5 estados gerencia toda a lógica do elevador</a:t>
            </a:r>
          </a:p>
          <a:p>
            <a:pPr algn="l">
              <a:spcBef>
                <a:spcPts val="400"/>
              </a:spcBef>
            </a:pPr>
            <a:r>
              <a:rPr sz="1700">
                <a:solidFill>
                  <a:srgbClr val="FFFFFF"/>
                </a:solidFill>
                <a:latin typeface="Segoe UI"/>
              </a:rPr>
              <a:t>✔  Debounce por tempo (20 ms) garante leitura correta dos 6 botões em PORTB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349240"/>
            <a:ext cx="27432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74320" y="5349240"/>
            <a:ext cx="2743200" cy="54864"/>
          </a:xfrm>
          <a:prstGeom prst="rect">
            <a:avLst/>
          </a:prstGeom>
          <a:solidFill>
            <a:srgbClr val="58A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5422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58A6FF"/>
                </a:solidFill>
                <a:latin typeface="Segoe UI"/>
              </a:rPr>
              <a:t>Parte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5715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Willian Douglas dos Santos Clementino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217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Segoe UI"/>
              </a:rPr>
              <a:t>RA 1869027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91840" y="5349240"/>
            <a:ext cx="27432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91840" y="5349240"/>
            <a:ext cx="2743200" cy="54864"/>
          </a:xfrm>
          <a:prstGeom prst="rect">
            <a:avLst/>
          </a:prstGeom>
          <a:solidFill>
            <a:srgbClr val="BB8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01568" y="5422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BB87FF"/>
                </a:solidFill>
                <a:latin typeface="Segoe UI"/>
              </a:rPr>
              <a:t>Parte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5715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Karoline Vitória de Freitas Yang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6217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Segoe UI"/>
              </a:rPr>
              <a:t>RA 2578000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309360" y="5349240"/>
            <a:ext cx="27432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309360" y="5349240"/>
            <a:ext cx="2743200" cy="54864"/>
          </a:xfrm>
          <a:prstGeom prst="rect">
            <a:avLst/>
          </a:prstGeom>
          <a:solidFill>
            <a:srgbClr val="3FB9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19088" y="5422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3FB950"/>
                </a:solidFill>
                <a:latin typeface="Segoe UI"/>
              </a:rPr>
              <a:t>Parte 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5715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Ana Caroline Soares Baptista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6217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Segoe UI"/>
              </a:rPr>
              <a:t>RA 2486024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5349240"/>
            <a:ext cx="2743200" cy="1188720"/>
          </a:xfrm>
          <a:prstGeom prst="rect">
            <a:avLst/>
          </a:prstGeom>
          <a:solidFill>
            <a:srgbClr val="161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9144000" y="5349240"/>
            <a:ext cx="2743200" cy="54864"/>
          </a:xfrm>
          <a:prstGeom prst="rect">
            <a:avLst/>
          </a:prstGeom>
          <a:solidFill>
            <a:srgbClr val="FF7B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253728" y="5422392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7B72"/>
                </a:solidFill>
                <a:latin typeface="Segoe UI"/>
              </a:rPr>
              <a:t>Parte 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35440" y="571500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Segoe UI"/>
              </a:rPr>
              <a:t>Erick Rodrigues Villalva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6217920"/>
            <a:ext cx="2560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B949E"/>
                </a:solidFill>
                <a:latin typeface="Segoe UI"/>
              </a:rPr>
              <a:t>RA 2301105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7200" y="6492240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B949E"/>
                </a:solidFill>
                <a:latin typeface="Segoe UI"/>
              </a:rPr>
              <a:t>ELE1012 — Microcontroladores  |  Prof. Miyadaira  |  UTFPR Medianeira  | 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